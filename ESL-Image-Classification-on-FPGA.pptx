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72" r:id="rId4"/>
  </p:sldMasterIdLst>
  <p:notesMasterIdLst>
    <p:notesMasterId r:id="rId12"/>
  </p:notesMasterIdLst>
  <p:sldIdLst>
    <p:sldId id="256" r:id="rId5"/>
    <p:sldId id="263" r:id="rId6"/>
    <p:sldId id="258" r:id="rId7"/>
    <p:sldId id="261" r:id="rId8"/>
    <p:sldId id="262" r:id="rId9"/>
    <p:sldId id="260" r:id="rId10"/>
    <p:sldId id="259" r:id="rId11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8DE4F-D21B-5478-B6ED-6EB07E388CA4}" v="11" dt="2025-12-04T22:44:46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30" y="43"/>
      </p:cViewPr>
      <p:guideLst>
        <p:guide orient="horz" pos="2380"/>
        <p:guide pos="4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3C6C40C2-A432-0B57-CEC5-9F316E282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F1FD835-29EC-4745-AB14-DDBB89E9BD8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en-US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en-US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en-US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9C3B1-8CBC-ADCF-BBFC-0D490931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6FDF6-1182-4AB3-B4F7-7428F5736E43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83203-3A31-4867-B9EF-BF1388EC5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FE868-79CC-9B78-EF3C-4E4BE78C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F7A778-1155-4957-97A1-D5472C7084B9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380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13D1C-D790-26FD-1F26-4BEE9D9C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0F71D-D6B7-40C7-AB04-CB9D77C6A576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B090E-8ADC-78ED-947E-AF15EA35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C314A-B190-44B2-A570-3024B687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6B1A5-4FC3-4E61-9AB0-77097DEAF624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23200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C0B3B-4315-9FCD-A09E-CBDF483A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3CEB5-CE51-4A91-94D2-8C592110FA1D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44A7B-6376-3FC7-D324-B042D1435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946B-E299-52DE-F19E-D11EE2AE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B6503-5D80-486E-92BA-B0593192C7A3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65640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EB4D205-EE8B-AEE3-F3AE-60F20F892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AB92C1-EA76-4971-B94E-386A175732FB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965F65-A5F7-5E1A-7E96-E1E4D84A4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07D1406-4C26-2F7D-6925-7DEFF400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A35AA7-05E2-4CFE-86F7-A3F4E2FDE9A7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362167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539FFF2-A67A-0F3B-A2A5-E5F625AFA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C9D3F2-CAF0-4FB3-B69D-8B6FCFF3F2FA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471DE91-90C3-8B10-EBCE-5429A3D3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15FA6AD-5A4E-0804-FF0A-5E5B25AF2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95B383-22C5-4FD2-B508-A7E65E662826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80481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B32CCFE-8038-B511-97DD-2EEEBC43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2847DF-C5DF-4D0A-AAC2-A19D8AEAB359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51AA951-A3A2-28EC-ECFF-C75D7E5ED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4667BF-AB68-D25A-4EC4-96BFA210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55D9AC-5E84-4769-81A3-A2BF167BDF39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416311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9838E31-B451-197F-53F2-4E62ABADC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8FFA0-E8A8-444E-8369-BE3CA504DA88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3FA1362-1942-0EA6-BD50-6C2C8FE4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DBAEA79-8CEA-6060-E16B-0644EC12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0AC051-0418-4B60-B68D-611CF94EB16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76503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7631CB-A9CB-28E5-CE5E-707ABBE74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9E9BA-8DB3-4E06-BEC5-2CC11F981AA2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F90153-9108-0A85-2953-7A2BAD93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E067921-2546-8872-510D-0538532FD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86BAFC-0DA2-43CD-9905-E1AB00A818F8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31001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7126D-0074-1AF3-35A6-230177ED9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D6975-6BB2-4306-A76B-B0EE5B5A368B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29C916-FE7B-31DB-6372-75D89F14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113DAEE-77A5-5AD1-235E-3FBCF512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A32E2-BAD1-409E-A630-5C5A289CBB3F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762042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647E4-0B8A-8E66-3C55-852C68BF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017FD4-EA8B-40F9-A2FA-4A050F29AC94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357A6-76D2-B057-69AD-2304563D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7FB9B-0B22-85DF-712C-8629C8D6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810373-A38B-4A33-B2B9-B32578C8EB12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207468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FD81D-9647-DA7E-D577-A64CBD071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1FB540-A83E-442E-A3FA-ACAA2E1ADB00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D8B26-83A1-1FCD-E88F-2FC9B86A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06BD8-B313-D1F2-A582-B384A613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770C7-8E43-4761-8F07-0A9747F0599A}" type="slidenum">
              <a:rPr lang="en-US" altLang="pl-PL"/>
              <a:pPr/>
              <a:t>‹#›</a:t>
            </a:fld>
            <a:endParaRPr lang="en-US" altLang="pl-PL"/>
          </a:p>
        </p:txBody>
      </p:sp>
    </p:spTree>
    <p:extLst>
      <p:ext uri="{BB962C8B-B14F-4D97-AF65-F5344CB8AC3E}">
        <p14:creationId xmlns:p14="http://schemas.microsoft.com/office/powerpoint/2010/main" val="168544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AC41D43F-7B62-9137-C6E8-46D03E1D5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159E426-1E01-BDEF-F270-B4761BDA9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en-US"/>
              <a:t>Kliknij, aby edytować style wzorca tekstu</a:t>
            </a:r>
          </a:p>
          <a:p>
            <a:pPr lvl="1"/>
            <a:r>
              <a:rPr lang="pl-PL" altLang="en-US"/>
              <a:t>Drugi poziom</a:t>
            </a:r>
          </a:p>
          <a:p>
            <a:pPr lvl="2"/>
            <a:r>
              <a:rPr lang="pl-PL" altLang="en-US"/>
              <a:t>Trzeci poziom</a:t>
            </a:r>
          </a:p>
          <a:p>
            <a:pPr lvl="3"/>
            <a:r>
              <a:rPr lang="pl-PL" altLang="en-US"/>
              <a:t>Czwarty poziom</a:t>
            </a:r>
          </a:p>
          <a:p>
            <a:pPr lvl="4"/>
            <a:r>
              <a:rPr lang="pl-PL" altLang="en-US"/>
              <a:t>Piąty poziom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FA0D-3BEF-4D6B-B5F9-8ADE0D93E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BC83E75-C064-4609-8FB5-E11856611300}" type="datetimeFigureOut">
              <a:rPr lang="en-US"/>
              <a:pPr>
                <a:defRPr/>
              </a:pPr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CFB89-6CBB-41A8-869E-47D38F2AE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192BA-FDA1-443E-8DCA-B10B3DEF2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F133E763-65B4-4E94-A8D5-9096C56981F7}" type="slidenum">
              <a:rPr lang="en-US" altLang="pl-PL"/>
              <a:pPr/>
              <a:t>‹#›</a:t>
            </a:fld>
            <a:endParaRPr lang="en-US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xilinx.github.io/Vitis-AI/3.5/html/index.html" TargetMode="External"/><Relationship Id="rId2" Type="http://schemas.openxmlformats.org/officeDocument/2006/relationships/hyperlink" Target="https://my.avnet.com/silica/resources/article/fpga-vs-gpu-vs-cpu-hardware-options-for-ai-application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7F33A1C1-B92C-43EF-845F-9CD0A31E222D}"/>
              </a:ext>
            </a:extLst>
          </p:cNvPr>
          <p:cNvSpPr>
            <a:spLocks/>
          </p:cNvSpPr>
          <p:nvPr/>
        </p:nvSpPr>
        <p:spPr bwMode="auto">
          <a:xfrm>
            <a:off x="2395538" y="3625850"/>
            <a:ext cx="5026025" cy="1950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57503" rIns="57503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r>
              <a:rPr lang="en-US" altLang="pl-PL" sz="4025"/>
              <a:t>Klasyfikacja obrazów na FPGA z użyciem Vitis AI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44D97D20-E1B9-4AC3-A3D5-C3D389D168E8}"/>
              </a:ext>
            </a:extLst>
          </p:cNvPr>
          <p:cNvSpPr>
            <a:spLocks/>
          </p:cNvSpPr>
          <p:nvPr/>
        </p:nvSpPr>
        <p:spPr bwMode="auto">
          <a:xfrm>
            <a:off x="2395538" y="7172325"/>
            <a:ext cx="1395390" cy="40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57503" rIns="57503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defRPr/>
            </a:pPr>
            <a:r>
              <a:rPr lang="en-US" altLang="pl-PL" sz="2012">
                <a:solidFill>
                  <a:srgbClr val="808080"/>
                </a:solidFill>
              </a:rPr>
              <a:t>06.11.2025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2928F-A620-2074-9E56-A3CECD88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B7C23-3E7B-B2BB-3764-3CD74917A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8120" y="2011363"/>
            <a:ext cx="11121380" cy="4794250"/>
          </a:xfrm>
        </p:spPr>
        <p:txBody>
          <a:bodyPr/>
          <a:lstStyle/>
          <a:p>
            <a:r>
              <a:rPr lang="en-US" err="1"/>
              <a:t>Klasyfikacja</a:t>
            </a:r>
            <a:r>
              <a:rPr lang="en-US"/>
              <a:t> </a:t>
            </a:r>
            <a:r>
              <a:rPr lang="en-US" err="1"/>
              <a:t>obrazów</a:t>
            </a:r>
            <a:r>
              <a:rPr lang="en-US"/>
              <a:t> z </a:t>
            </a:r>
            <a:r>
              <a:rPr lang="en-US" err="1"/>
              <a:t>datasetu</a:t>
            </a:r>
            <a:r>
              <a:rPr lang="en-US"/>
              <a:t> CIFAR-10</a:t>
            </a:r>
          </a:p>
          <a:p>
            <a:pPr marL="753745" lvl="1"/>
            <a:r>
              <a:rPr lang="en-US"/>
              <a:t>60000 </a:t>
            </a:r>
            <a:r>
              <a:rPr lang="en-US" err="1"/>
              <a:t>obrazków</a:t>
            </a:r>
            <a:r>
              <a:rPr lang="en-US"/>
              <a:t> 32x32 </a:t>
            </a:r>
            <a:r>
              <a:rPr lang="en-US" err="1"/>
              <a:t>piksele</a:t>
            </a:r>
            <a:endParaRPr lang="en-US" err="1">
              <a:ea typeface="Calibri"/>
              <a:cs typeface="Calibri"/>
            </a:endParaRPr>
          </a:p>
          <a:p>
            <a:pPr marL="753745" lvl="1"/>
            <a:r>
              <a:rPr lang="en-US"/>
              <a:t>10 </a:t>
            </a:r>
            <a:r>
              <a:rPr lang="en-US" err="1"/>
              <a:t>klas</a:t>
            </a:r>
            <a:r>
              <a:rPr lang="en-US"/>
              <a:t> – </a:t>
            </a:r>
            <a:r>
              <a:rPr lang="en-US" err="1"/>
              <a:t>Samochody</a:t>
            </a:r>
            <a:r>
              <a:rPr lang="en-US"/>
              <a:t>, </a:t>
            </a:r>
            <a:r>
              <a:rPr lang="en-US" err="1"/>
              <a:t>samoloty</a:t>
            </a:r>
            <a:r>
              <a:rPr lang="en-US"/>
              <a:t> </a:t>
            </a:r>
            <a:r>
              <a:rPr lang="en-US" err="1"/>
              <a:t>itd</a:t>
            </a:r>
            <a:r>
              <a:rPr lang="en-US"/>
              <a:t>.</a:t>
            </a:r>
            <a:endParaRPr lang="en-US">
              <a:ea typeface="Calibri"/>
              <a:cs typeface="Calibri"/>
            </a:endParaRPr>
          </a:p>
          <a:p>
            <a:pPr marL="250507"/>
            <a:r>
              <a:rPr lang="en-US">
                <a:ea typeface="Calibri"/>
                <a:cs typeface="Calibri"/>
              </a:rPr>
              <a:t>Celem jest sprawdzenie jak kwantyzacja i implementacja na FPGA wpływa na czas inferencji I dokładność modelu.</a:t>
            </a:r>
            <a:endParaRPr lang="en-US"/>
          </a:p>
          <a:p>
            <a:pPr marL="960120" lvl="1" indent="-457200"/>
            <a:endParaRPr lang="en-US"/>
          </a:p>
        </p:txBody>
      </p:sp>
      <p:pic>
        <p:nvPicPr>
          <p:cNvPr id="4" name="Obraz 3" descr="Load and Explore Cifar10 Dataset | coding">
            <a:extLst>
              <a:ext uri="{FF2B5EF4-FFF2-40B4-BE49-F238E27FC236}">
                <a16:creationId xmlns:a16="http://schemas.microsoft.com/office/drawing/2014/main" id="{C6E11E01-5915-BEA3-F353-C2A8406E2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152" y="4504738"/>
            <a:ext cx="6188206" cy="265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41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2B8EE-E72A-2DF0-A1BB-EF3EE193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Zalety Machine Learningu na FPGA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3B6C-2D9D-7D1A-9347-A36669CAD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104" y="2011363"/>
            <a:ext cx="11265396" cy="4794250"/>
          </a:xfrm>
        </p:spPr>
        <p:txBody>
          <a:bodyPr/>
          <a:lstStyle/>
          <a:p>
            <a:r>
              <a:rPr lang="en-US"/>
              <a:t>Niskie opóźnienia</a:t>
            </a:r>
          </a:p>
          <a:p>
            <a:r>
              <a:rPr lang="en-US"/>
              <a:t>Bardzo dobra wydajność</a:t>
            </a:r>
          </a:p>
          <a:p>
            <a:r>
              <a:rPr lang="en-US"/>
              <a:t>Dobry stosunek cena/jakość</a:t>
            </a:r>
          </a:p>
          <a:p>
            <a:r>
              <a:rPr lang="en-US"/>
              <a:t>Niskie zużycie energii</a:t>
            </a:r>
          </a:p>
        </p:txBody>
      </p:sp>
      <p:pic>
        <p:nvPicPr>
          <p:cNvPr id="5" name="Picture 4" descr="A diagram of different types of computer components&#10;&#10;AI-generated content may be incorrect.">
            <a:extLst>
              <a:ext uri="{FF2B5EF4-FFF2-40B4-BE49-F238E27FC236}">
                <a16:creationId xmlns:a16="http://schemas.microsoft.com/office/drawing/2014/main" id="{339C7AE1-DFF4-B8BF-E19C-993AA6908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497" y="2085741"/>
            <a:ext cx="5014354" cy="464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162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7A46-8222-54E8-CB67-2DD13C42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Kwantyzacja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F3F24-37AD-A060-4CFD-26D0B60D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12" y="2011363"/>
            <a:ext cx="11193388" cy="4794250"/>
          </a:xfrm>
        </p:spPr>
        <p:txBody>
          <a:bodyPr/>
          <a:lstStyle/>
          <a:p>
            <a:r>
              <a:rPr lang="en-US"/>
              <a:t>Kwantyzacja pozwala na znaczne zmniejszenie modelu  i jego przyśpieszenie kosztem minimalnego spadku na dokładności.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C0A4F937-4E17-62B4-FE5D-C4283405A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176" y="3123073"/>
            <a:ext cx="6552381" cy="36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49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9941-AE2A-3514-0A8C-FE007F81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4E9F-758E-492F-6DC3-9E53CF91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452" y="401638"/>
            <a:ext cx="9721318" cy="1487415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/>
              <a:t> Vitis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C0B53-5979-B7D2-CBAE-7F7042678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12" y="2011363"/>
            <a:ext cx="11193388" cy="4794250"/>
          </a:xfrm>
        </p:spPr>
        <p:txBody>
          <a:bodyPr/>
          <a:lstStyle/>
          <a:p>
            <a:r>
              <a:rPr lang="en-US" err="1">
                <a:ea typeface="Calibri"/>
                <a:cs typeface="Calibri"/>
              </a:rPr>
              <a:t>Zintegrowane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środowisko</a:t>
            </a:r>
            <a:r>
              <a:rPr lang="en-US">
                <a:ea typeface="Calibri"/>
                <a:cs typeface="Calibri"/>
              </a:rPr>
              <a:t> do </a:t>
            </a:r>
            <a:r>
              <a:rPr lang="en-US" err="1">
                <a:ea typeface="Calibri"/>
                <a:cs typeface="Calibri"/>
              </a:rPr>
              <a:t>rozwoju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aplikacji</a:t>
            </a:r>
            <a:r>
              <a:rPr lang="en-US">
                <a:ea typeface="Calibri"/>
                <a:cs typeface="Calibri"/>
              </a:rPr>
              <a:t> AI </a:t>
            </a:r>
            <a:r>
              <a:rPr lang="en-US" err="1">
                <a:ea typeface="Calibri"/>
                <a:cs typeface="Calibri"/>
              </a:rPr>
              <a:t>na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platformach</a:t>
            </a:r>
            <a:r>
              <a:rPr lang="en-US">
                <a:ea typeface="Calibri"/>
                <a:cs typeface="Calibri"/>
              </a:rPr>
              <a:t> AMD</a:t>
            </a:r>
          </a:p>
          <a:p>
            <a:r>
              <a:rPr lang="en-US" err="1">
                <a:ea typeface="Calibri"/>
                <a:cs typeface="Calibri"/>
              </a:rPr>
              <a:t>Zawiera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narzędzia</a:t>
            </a:r>
            <a:r>
              <a:rPr lang="en-US">
                <a:ea typeface="Calibri"/>
                <a:cs typeface="Calibri"/>
              </a:rPr>
              <a:t>, </a:t>
            </a:r>
            <a:r>
              <a:rPr lang="en-US" err="1">
                <a:ea typeface="Calibri"/>
                <a:cs typeface="Calibri"/>
              </a:rPr>
              <a:t>biblioteki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oraz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gotowe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modele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 </a:t>
            </a:r>
            <a:r>
              <a:rPr lang="en-US" err="1">
                <a:ea typeface="Calibri"/>
                <a:cs typeface="Calibri"/>
              </a:rPr>
              <a:t>przykłady</a:t>
            </a:r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https://xilinx.github.io/Vitis-AI/3.5/html/_images/VAI_IDE.png">
            <a:extLst>
              <a:ext uri="{FF2B5EF4-FFF2-40B4-BE49-F238E27FC236}">
                <a16:creationId xmlns:a16="http://schemas.microsoft.com/office/drawing/2014/main" id="{0BA18EC9-E9FF-25EF-B7BC-802C1BBBC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432" y="3606109"/>
            <a:ext cx="7104185" cy="35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7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9129-A3FA-F53A-BFAD-88A33AE4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</a:t>
            </a:r>
            <a:r>
              <a:rPr lang="en-US" dirty="0" err="1"/>
              <a:t>Etapy</a:t>
            </a:r>
            <a:r>
              <a:rPr lang="en-US" dirty="0"/>
              <a:t> </a:t>
            </a:r>
            <a:r>
              <a:rPr lang="en-US" dirty="0" err="1"/>
              <a:t>pracy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94908-27A9-9D21-EA72-25C0A2982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12" y="2011362"/>
            <a:ext cx="11193388" cy="5223271"/>
          </a:xfrm>
        </p:spPr>
        <p:txBody>
          <a:bodyPr/>
          <a:lstStyle/>
          <a:p>
            <a:r>
              <a:rPr lang="en-US"/>
              <a:t>Trenowanie modelu w PyTorch </a:t>
            </a:r>
          </a:p>
          <a:p>
            <a:pPr lvl="1"/>
            <a:r>
              <a:rPr lang="pl-PL" dirty="0"/>
              <a:t>MobileNetV2 na zbiorze CIFAR-10</a:t>
            </a:r>
            <a:endParaRPr lang="en-US" dirty="0"/>
          </a:p>
          <a:p>
            <a:r>
              <a:rPr lang="en-US"/>
              <a:t>Eksport do ONNX</a:t>
            </a:r>
          </a:p>
          <a:p>
            <a:pPr lvl="1"/>
            <a:r>
              <a:rPr lang="en-US" dirty="0" err="1"/>
              <a:t>torch.onnx.export</a:t>
            </a:r>
            <a:r>
              <a:rPr lang="en-US" dirty="0"/>
              <a:t>(model, input, "</a:t>
            </a:r>
            <a:r>
              <a:rPr lang="en-US" dirty="0" err="1"/>
              <a:t>model.onnx</a:t>
            </a:r>
            <a:r>
              <a:rPr lang="en-US" dirty="0"/>
              <a:t>")</a:t>
            </a:r>
          </a:p>
          <a:p>
            <a:r>
              <a:rPr lang="en-US" dirty="0" err="1"/>
              <a:t>Kwantyzacja</a:t>
            </a:r>
          </a:p>
          <a:p>
            <a:pPr lvl="1"/>
            <a:r>
              <a:rPr lang="en-US" dirty="0" err="1"/>
              <a:t>Użycie</a:t>
            </a:r>
            <a:r>
              <a:rPr lang="en-US" dirty="0"/>
              <a:t> Vitis AI Quantizer (</a:t>
            </a:r>
            <a:r>
              <a:rPr lang="en-US" dirty="0" err="1"/>
              <a:t>vai_q_pytorch</a:t>
            </a:r>
            <a:r>
              <a:rPr lang="en-US" dirty="0"/>
              <a:t>) do </a:t>
            </a:r>
            <a:r>
              <a:rPr lang="en-US" dirty="0" err="1"/>
              <a:t>konwersji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INT8</a:t>
            </a:r>
          </a:p>
          <a:p>
            <a:r>
              <a:rPr lang="en-US" dirty="0" err="1"/>
              <a:t>Kompilacja</a:t>
            </a:r>
          </a:p>
          <a:p>
            <a:pPr lvl="1"/>
            <a:r>
              <a:rPr lang="en-US" dirty="0" err="1"/>
              <a:t>Kompilacja</a:t>
            </a:r>
            <a:r>
              <a:rPr lang="en-US" dirty="0"/>
              <a:t> </a:t>
            </a:r>
            <a:r>
              <a:rPr lang="en-US" dirty="0" err="1"/>
              <a:t>modelem</a:t>
            </a:r>
            <a:r>
              <a:rPr lang="en-US" dirty="0"/>
              <a:t> w Vitis AI Compiler pod </a:t>
            </a:r>
            <a:r>
              <a:rPr lang="en-US" dirty="0" err="1"/>
              <a:t>konkretną</a:t>
            </a:r>
            <a:r>
              <a:rPr lang="en-US" dirty="0"/>
              <a:t> </a:t>
            </a:r>
            <a:r>
              <a:rPr lang="en-US" dirty="0" err="1"/>
              <a:t>platformę</a:t>
            </a:r>
            <a:r>
              <a:rPr lang="en-US" dirty="0"/>
              <a:t> FPGA</a:t>
            </a:r>
          </a:p>
          <a:p>
            <a:r>
              <a:rPr lang="en-US" dirty="0" err="1"/>
              <a:t>Uruchomienie</a:t>
            </a:r>
            <a:r>
              <a:rPr lang="en-US" dirty="0"/>
              <a:t> </a:t>
            </a:r>
            <a:r>
              <a:rPr lang="en-US" dirty="0" err="1"/>
              <a:t>inferencji</a:t>
            </a:r>
          </a:p>
          <a:p>
            <a:pPr lvl="1"/>
            <a:r>
              <a:rPr lang="pl-PL" dirty="0"/>
              <a:t>Wykorzystanie </a:t>
            </a:r>
            <a:r>
              <a:rPr lang="pl-PL" dirty="0" err="1"/>
              <a:t>Vitis</a:t>
            </a:r>
            <a:r>
              <a:rPr lang="pl-PL" dirty="0"/>
              <a:t> AI Runtime (VART) do wykonania na FPGA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52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0E82-DC90-CEAA-44C0-F7BC3739B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		Źródła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4809B-387B-3056-1A66-26376024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4104" y="2011363"/>
            <a:ext cx="11265396" cy="4794250"/>
          </a:xfrm>
        </p:spPr>
        <p:txBody>
          <a:bodyPr/>
          <a:lstStyle/>
          <a:p>
            <a:r>
              <a:rPr lang="en-US">
                <a:hlinkClick r:id="rId2"/>
              </a:rPr>
              <a:t>https://my.avnet.com/silica/resources/article/fpga-vs-gpu-vs-cpu-hardware-options-for-ai-applications/</a:t>
            </a:r>
            <a:endParaRPr lang="en-US"/>
          </a:p>
          <a:p>
            <a:r>
              <a:rPr lang="en-US">
                <a:ea typeface="+mn-lt"/>
                <a:cs typeface="+mn-lt"/>
                <a:hlinkClick r:id="rId3"/>
              </a:rPr>
              <a:t>https://xilinx.github.io/Vitis-AI/3.5/html/index.html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460021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 - Default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D3E0C5E92C274499576E1B13C8ED110" ma:contentTypeVersion="8" ma:contentTypeDescription="Utwórz nowy dokument." ma:contentTypeScope="" ma:versionID="12d49766b0c4bf4d7d0a825197d2def8">
  <xsd:schema xmlns:xsd="http://www.w3.org/2001/XMLSchema" xmlns:xs="http://www.w3.org/2001/XMLSchema" xmlns:p="http://schemas.microsoft.com/office/2006/metadata/properties" xmlns:ns3="cb2fda98-091b-466d-92a5-bc28a7b73a74" xmlns:ns4="e0324670-5a30-4a82-9f4a-3ec047b6efa7" targetNamespace="http://schemas.microsoft.com/office/2006/metadata/properties" ma:root="true" ma:fieldsID="c28b5b92f723b40e2054a68bc6e67761" ns3:_="" ns4:_="">
    <xsd:import namespace="cb2fda98-091b-466d-92a5-bc28a7b73a74"/>
    <xsd:import namespace="e0324670-5a30-4a82-9f4a-3ec047b6efa7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_activity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2fda98-091b-466d-92a5-bc28a7b73a7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Udostępniani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Udostępnione dla — szczegóły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krót wskazówki dotyczącej udostępniania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324670-5a30-4a82-9f4a-3ec047b6ef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0324670-5a30-4a82-9f4a-3ec047b6efa7" xsi:nil="true"/>
  </documentManagement>
</p:properties>
</file>

<file path=customXml/itemProps1.xml><?xml version="1.0" encoding="utf-8"?>
<ds:datastoreItem xmlns:ds="http://schemas.openxmlformats.org/officeDocument/2006/customXml" ds:itemID="{D994617B-498C-4971-AA14-80AA91235E8A}">
  <ds:schemaRefs>
    <ds:schemaRef ds:uri="cb2fda98-091b-466d-92a5-bc28a7b73a74"/>
    <ds:schemaRef ds:uri="e0324670-5a30-4a82-9f4a-3ec047b6ef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F2C7985-AF9E-4EF4-85C0-E0E82FB6DC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DA7721-D9A8-47A8-81E1-BD2BE85510D0}">
  <ds:schemaRefs>
    <ds:schemaRef ds:uri="http://schemas.microsoft.com/office/2006/documentManagement/types"/>
    <ds:schemaRef ds:uri="cb2fda98-091b-466d-92a5-bc28a7b73a74"/>
    <ds:schemaRef ds:uri="e0324670-5a30-4a82-9f4a-3ec047b6efa7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Niestandardowy</PresentationFormat>
  <Paragraphs>31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 Neue</vt:lpstr>
      <vt:lpstr>Blank Presentation - Default</vt:lpstr>
      <vt:lpstr>Prezentacja programu PowerPoint</vt:lpstr>
      <vt:lpstr>  Problem</vt:lpstr>
      <vt:lpstr>  Zalety Machine Learningu na FPGA </vt:lpstr>
      <vt:lpstr>  Kwantyzacja</vt:lpstr>
      <vt:lpstr> Vitis AI</vt:lpstr>
      <vt:lpstr>  Etapy pracy</vt:lpstr>
      <vt:lpstr>  Źródła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Maciek</dc:creator>
  <cp:lastModifiedBy>Stanisław Kusiak</cp:lastModifiedBy>
  <cp:revision>4</cp:revision>
  <dcterms:modified xsi:type="dcterms:W3CDTF">2025-12-15T17:57:49Z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0x0101000D3E0C5E92C274499576E1B13C8ED110</vt:lpwstr>
  </property>
</Properties>
</file>