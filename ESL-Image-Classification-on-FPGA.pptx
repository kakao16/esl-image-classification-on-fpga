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72" r:id="rId4"/>
  </p:sldMasterIdLst>
  <p:notesMasterIdLst>
    <p:notesMasterId r:id="rId15"/>
  </p:notesMasterIdLst>
  <p:sldIdLst>
    <p:sldId id="256" r:id="rId5"/>
    <p:sldId id="263" r:id="rId6"/>
    <p:sldId id="258" r:id="rId7"/>
    <p:sldId id="261" r:id="rId8"/>
    <p:sldId id="262" r:id="rId9"/>
    <p:sldId id="260" r:id="rId10"/>
    <p:sldId id="264" r:id="rId11"/>
    <p:sldId id="265" r:id="rId12"/>
    <p:sldId id="266" r:id="rId13"/>
    <p:sldId id="259" r:id="rId14"/>
  </p:sldIdLst>
  <p:sldSz cx="13433425" cy="7556500"/>
  <p:notesSz cx="6858000" cy="9144000"/>
  <p:defaultTextStyle>
    <a:defPPr>
      <a:defRPr lang="pl-PL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5pPr>
    <a:lvl6pPr marL="22860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6pPr>
    <a:lvl7pPr marL="27432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7pPr>
    <a:lvl8pPr marL="32004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8pPr>
    <a:lvl9pPr marL="36576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380">
          <p15:clr>
            <a:srgbClr val="A4A3A4"/>
          </p15:clr>
        </p15:guide>
        <p15:guide id="2" pos="423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D8DE4F-D21B-5478-B6ED-6EB07E388CA4}" v="11" dt="2025-12-04T22:44:46.0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1" d="100"/>
          <a:sy n="71" d="100"/>
        </p:scale>
        <p:origin x="830" y="53"/>
      </p:cViewPr>
      <p:guideLst>
        <p:guide orient="horz" pos="2380"/>
        <p:guide pos="42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>
            <a:extLst>
              <a:ext uri="{FF2B5EF4-FFF2-40B4-BE49-F238E27FC236}">
                <a16:creationId xmlns:a16="http://schemas.microsoft.com/office/drawing/2014/main" id="{3C6C40C2-A432-0B57-CEC5-9F316E282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4F1FD835-29EC-4745-AB14-DDBB89E9BD8E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pl-PL" noProof="0">
                <a:sym typeface="Helvetica Neue" charset="0"/>
              </a:rPr>
              <a:t>Click to edit Master text styles</a:t>
            </a:r>
          </a:p>
          <a:p>
            <a:pPr lvl="1"/>
            <a:r>
              <a:rPr lang="en-US" altLang="pl-PL" noProof="0">
                <a:sym typeface="Helvetica Neue" charset="0"/>
              </a:rPr>
              <a:t>Second level</a:t>
            </a:r>
          </a:p>
          <a:p>
            <a:pPr lvl="2"/>
            <a:r>
              <a:rPr lang="en-US" altLang="pl-PL" noProof="0">
                <a:sym typeface="Helvetica Neue" charset="0"/>
              </a:rPr>
              <a:t>Third level</a:t>
            </a:r>
          </a:p>
          <a:p>
            <a:pPr lvl="3"/>
            <a:r>
              <a:rPr lang="en-US" altLang="pl-PL" noProof="0">
                <a:sym typeface="Helvetica Neue" charset="0"/>
              </a:rPr>
              <a:t>Fourth level</a:t>
            </a:r>
          </a:p>
          <a:p>
            <a:pPr lvl="4"/>
            <a:r>
              <a:rPr lang="en-US" altLang="pl-PL" noProof="0">
                <a:sym typeface="Helvetica Neue" charset="0"/>
              </a:rPr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1pPr>
    <a:lvl2pPr indent="2286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2pPr>
    <a:lvl3pPr indent="4572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3pPr>
    <a:lvl4pPr indent="6858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4pPr>
    <a:lvl5pPr indent="9144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79178" y="1236678"/>
            <a:ext cx="10075069" cy="2630781"/>
          </a:xfrm>
        </p:spPr>
        <p:txBody>
          <a:bodyPr anchor="b"/>
          <a:lstStyle>
            <a:lvl1pPr algn="ctr">
              <a:defRPr sz="6611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9178" y="3968912"/>
            <a:ext cx="10075069" cy="1824404"/>
          </a:xfrm>
        </p:spPr>
        <p:txBody>
          <a:bodyPr/>
          <a:lstStyle>
            <a:lvl1pPr marL="0" indent="0" algn="ctr">
              <a:buNone/>
              <a:defRPr sz="2644"/>
            </a:lvl1pPr>
            <a:lvl2pPr marL="503743" indent="0" algn="ctr">
              <a:buNone/>
              <a:defRPr sz="2204"/>
            </a:lvl2pPr>
            <a:lvl3pPr marL="1007486" indent="0" algn="ctr">
              <a:buNone/>
              <a:defRPr sz="1983"/>
            </a:lvl3pPr>
            <a:lvl4pPr marL="1511229" indent="0" algn="ctr">
              <a:buNone/>
              <a:defRPr sz="1763"/>
            </a:lvl4pPr>
            <a:lvl5pPr marL="2014972" indent="0" algn="ctr">
              <a:buNone/>
              <a:defRPr sz="1763"/>
            </a:lvl5pPr>
            <a:lvl6pPr marL="2518715" indent="0" algn="ctr">
              <a:buNone/>
              <a:defRPr sz="1763"/>
            </a:lvl6pPr>
            <a:lvl7pPr marL="3022458" indent="0" algn="ctr">
              <a:buNone/>
              <a:defRPr sz="1763"/>
            </a:lvl7pPr>
            <a:lvl8pPr marL="3526201" indent="0" algn="ctr">
              <a:buNone/>
              <a:defRPr sz="1763"/>
            </a:lvl8pPr>
            <a:lvl9pPr marL="4029944" indent="0" algn="ctr">
              <a:buNone/>
              <a:defRPr sz="1763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89C3B1-8CBC-ADCF-BBFC-0D4909316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26FDF6-1182-4AB3-B4F7-7428F5736E43}" type="datetimeFigureOut">
              <a:rPr lang="en-US"/>
              <a:pPr>
                <a:defRPr/>
              </a:pPr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883203-3A31-4867-B9EF-BF1388EC5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FE868-79CC-9B78-EF3C-4E4BE78CF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DF7A778-1155-4957-97A1-D5472C7084B9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3800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13D1C-D790-26FD-1F26-4BEE9D9C7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20F71D-D6B7-40C7-AB04-CB9D77C6A576}" type="datetimeFigureOut">
              <a:rPr lang="en-US"/>
              <a:pPr>
                <a:defRPr/>
              </a:pPr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B090E-8ADC-78ED-947E-AF15EA353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C314A-B190-44B2-A570-3024B687F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D76B1A5-4FC3-4E61-9AB0-77097DEAF624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423200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6551" y="1883878"/>
            <a:ext cx="11586329" cy="3143294"/>
          </a:xfrm>
        </p:spPr>
        <p:txBody>
          <a:bodyPr anchor="b"/>
          <a:lstStyle>
            <a:lvl1pPr>
              <a:defRPr sz="6611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551" y="5056909"/>
            <a:ext cx="11586329" cy="1652984"/>
          </a:xfrm>
        </p:spPr>
        <p:txBody>
          <a:bodyPr/>
          <a:lstStyle>
            <a:lvl1pPr marL="0" indent="0">
              <a:buNone/>
              <a:defRPr sz="2644">
                <a:solidFill>
                  <a:schemeClr val="tx1">
                    <a:tint val="75000"/>
                  </a:schemeClr>
                </a:solidFill>
              </a:defRPr>
            </a:lvl1pPr>
            <a:lvl2pPr marL="503743" indent="0">
              <a:buNone/>
              <a:defRPr sz="2204">
                <a:solidFill>
                  <a:schemeClr val="tx1">
                    <a:tint val="75000"/>
                  </a:schemeClr>
                </a:solidFill>
              </a:defRPr>
            </a:lvl2pPr>
            <a:lvl3pPr marL="1007486" indent="0">
              <a:buNone/>
              <a:defRPr sz="1983">
                <a:solidFill>
                  <a:schemeClr val="tx1">
                    <a:tint val="75000"/>
                  </a:schemeClr>
                </a:solidFill>
              </a:defRPr>
            </a:lvl3pPr>
            <a:lvl4pPr marL="1511229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4pPr>
            <a:lvl5pPr marL="2014972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5pPr>
            <a:lvl6pPr marL="2518715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6pPr>
            <a:lvl7pPr marL="3022458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7pPr>
            <a:lvl8pPr marL="3526201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8pPr>
            <a:lvl9pPr marL="4029944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C0B3B-4315-9FCD-A09E-CBDF483A8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53CEB5-CE51-4A91-94D2-8C592110FA1D}" type="datetimeFigureOut">
              <a:rPr lang="en-US"/>
              <a:pPr>
                <a:defRPr/>
              </a:pPr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744A7B-6376-3FC7-D324-B042D1435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3E946B-E299-52DE-F19E-D11EE2AEF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D1B6503-5D80-486E-92BA-B0593192C7A3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65640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3548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0671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EB4D205-EE8B-AEE3-F3AE-60F20F892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AB92C1-EA76-4971-B94E-386A175732FB}" type="datetimeFigureOut">
              <a:rPr lang="en-US"/>
              <a:pPr>
                <a:defRPr/>
              </a:pPr>
              <a:t>12/17/2025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0965F65-A5F7-5E1A-7E96-E1E4D84A4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07D1406-4C26-2F7D-6925-7DEFF400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8A35AA7-05E2-4CFE-86F7-A3F4E2FDE9A7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3621676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402314"/>
            <a:ext cx="11586329" cy="1460574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5298" y="1852393"/>
            <a:ext cx="5682968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298" y="2760222"/>
            <a:ext cx="5682968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00672" y="1852393"/>
            <a:ext cx="5710955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00672" y="2760222"/>
            <a:ext cx="5710955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539FFF2-A67A-0F3B-A2A5-E5F625AFA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C9D3F2-CAF0-4FB3-B69D-8B6FCFF3F2FA}" type="datetimeFigureOut">
              <a:rPr lang="en-US"/>
              <a:pPr>
                <a:defRPr/>
              </a:pPr>
              <a:t>12/17/2025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471DE91-90C3-8B10-EBCE-5429A3D31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115FA6AD-5A4E-0804-FF0A-5E5B25AF2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695B383-22C5-4FD2-B508-A7E65E662826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804813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EB32CCFE-8038-B511-97DD-2EEEBC436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2847DF-C5DF-4D0A-AAC2-A19D8AEAB359}" type="datetimeFigureOut">
              <a:rPr lang="en-US"/>
              <a:pPr>
                <a:defRPr/>
              </a:pPr>
              <a:t>12/17/2025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51AA951-A3A2-28EC-ECFF-C75D7E5ED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04667BF-AB68-D25A-4EC4-96BFA210B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55D9AC-5E84-4769-81A3-A2BF167BDF39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4163114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59838E31-B451-197F-53F2-4E62ABADC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538FFA0-E8A8-444E-8369-BE3CA504DA88}" type="datetimeFigureOut">
              <a:rPr lang="en-US"/>
              <a:pPr>
                <a:defRPr/>
              </a:pPr>
              <a:t>12/17/2025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3FA1362-1942-0EA6-BD50-6C2C8FE4F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DBAEA79-8CEA-6060-E16B-0644EC12C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C0AC051-0418-4B60-B68D-611CF94EB168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765033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0956" y="1087996"/>
            <a:ext cx="6800671" cy="5370013"/>
          </a:xfrm>
        </p:spPr>
        <p:txBody>
          <a:bodyPr/>
          <a:lstStyle>
            <a:lvl1pPr>
              <a:defRPr sz="3526"/>
            </a:lvl1pPr>
            <a:lvl2pPr>
              <a:defRPr sz="3085"/>
            </a:lvl2pPr>
            <a:lvl3pPr>
              <a:defRPr sz="2644"/>
            </a:lvl3pPr>
            <a:lvl4pPr>
              <a:defRPr sz="2204"/>
            </a:lvl4pPr>
            <a:lvl5pPr>
              <a:defRPr sz="2204"/>
            </a:lvl5pPr>
            <a:lvl6pPr>
              <a:defRPr sz="2204"/>
            </a:lvl6pPr>
            <a:lvl7pPr>
              <a:defRPr sz="2204"/>
            </a:lvl7pPr>
            <a:lvl8pPr>
              <a:defRPr sz="2204"/>
            </a:lvl8pPr>
            <a:lvl9pPr>
              <a:defRPr sz="2204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F7631CB-A9CB-28E5-CE5E-707ABBE74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A9E9BA-8DB3-4E06-BEC5-2CC11F981AA2}" type="datetimeFigureOut">
              <a:rPr lang="en-US"/>
              <a:pPr>
                <a:defRPr/>
              </a:pPr>
              <a:t>12/17/2025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2F90153-9108-0A85-2953-7A2BAD933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E067921-2546-8872-510D-0538532FD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886BAFC-0DA2-43CD-9905-E1AB00A818F8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10016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10956" y="1087996"/>
            <a:ext cx="6800671" cy="5370013"/>
          </a:xfrm>
        </p:spPr>
        <p:txBody>
          <a:bodyPr rtlCol="0">
            <a:normAutofit/>
          </a:bodyPr>
          <a:lstStyle>
            <a:lvl1pPr marL="0" indent="0">
              <a:buNone/>
              <a:defRPr sz="3526"/>
            </a:lvl1pPr>
            <a:lvl2pPr marL="503743" indent="0">
              <a:buNone/>
              <a:defRPr sz="3085"/>
            </a:lvl2pPr>
            <a:lvl3pPr marL="1007486" indent="0">
              <a:buNone/>
              <a:defRPr sz="2644"/>
            </a:lvl3pPr>
            <a:lvl4pPr marL="1511229" indent="0">
              <a:buNone/>
              <a:defRPr sz="2204"/>
            </a:lvl4pPr>
            <a:lvl5pPr marL="2014972" indent="0">
              <a:buNone/>
              <a:defRPr sz="2204"/>
            </a:lvl5pPr>
            <a:lvl6pPr marL="2518715" indent="0">
              <a:buNone/>
              <a:defRPr sz="2204"/>
            </a:lvl6pPr>
            <a:lvl7pPr marL="3022458" indent="0">
              <a:buNone/>
              <a:defRPr sz="2204"/>
            </a:lvl7pPr>
            <a:lvl8pPr marL="3526201" indent="0">
              <a:buNone/>
              <a:defRPr sz="2204"/>
            </a:lvl8pPr>
            <a:lvl9pPr marL="4029944" indent="0">
              <a:buNone/>
              <a:defRPr sz="2204"/>
            </a:lvl9pPr>
          </a:lstStyle>
          <a:p>
            <a:pPr lvl="0"/>
            <a:r>
              <a:rPr lang="pl-PL" noProof="0"/>
              <a:t>Kliknij ikonę, aby dodać obraz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51B7126D-0074-1AF3-35A6-230177ED9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CD6975-6BB2-4306-A76B-B0EE5B5A368B}" type="datetimeFigureOut">
              <a:rPr lang="en-US"/>
              <a:pPr>
                <a:defRPr/>
              </a:pPr>
              <a:t>12/17/2025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E29C916-FE7B-31DB-6372-75D89F14B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113DAEE-77A5-5AD1-235E-3FBCF5125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01A32E2-BAD1-409E-A630-5C5A289CBB3F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2762042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7647E4-0B8A-8E66-3C55-852C68BF4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017FD4-EA8B-40F9-A2FA-4A050F29AC94}" type="datetimeFigureOut">
              <a:rPr lang="en-US"/>
              <a:pPr>
                <a:defRPr/>
              </a:pPr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F357A6-76D2-B057-69AD-2304563D5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57FB9B-0B22-85DF-712C-8629C8D6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6810373-A38B-4A33-B2B9-B32578C8EB12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20746815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13295" y="402314"/>
            <a:ext cx="2896582" cy="6403784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3548" y="402314"/>
            <a:ext cx="8521829" cy="6403784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FD81D-9647-DA7E-D577-A64CBD071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B1FB540-A83E-442E-A3FA-ACAA2E1ADB00}" type="datetimeFigureOut">
              <a:rPr lang="en-US"/>
              <a:pPr>
                <a:defRPr/>
              </a:pPr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D8B26-83A1-1FCD-E88F-2FC9B86AA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06BD8-B313-D1F2-A582-B384A6132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0B770C7-8E43-4761-8F07-0A9747F0599A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6854445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AC41D43F-7B62-9137-C6E8-46D03E1D55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23925" y="401638"/>
            <a:ext cx="11585575" cy="146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en-US"/>
              <a:t>Kliknij, aby edytować styl</a:t>
            </a:r>
            <a:endParaRPr lang="en-US" altLang="en-US"/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1159E426-1E01-BDEF-F270-B4761BDA9E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23925" y="2011363"/>
            <a:ext cx="11585575" cy="4794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en-US"/>
              <a:t>Kliknij, aby edytować style wzorca tekstu</a:t>
            </a:r>
          </a:p>
          <a:p>
            <a:pPr lvl="1"/>
            <a:r>
              <a:rPr lang="pl-PL" altLang="en-US"/>
              <a:t>Drugi poziom</a:t>
            </a:r>
          </a:p>
          <a:p>
            <a:pPr lvl="2"/>
            <a:r>
              <a:rPr lang="pl-PL" altLang="en-US"/>
              <a:t>Trzeci poziom</a:t>
            </a:r>
          </a:p>
          <a:p>
            <a:pPr lvl="3"/>
            <a:r>
              <a:rPr lang="pl-PL" altLang="en-US"/>
              <a:t>Czwarty poziom</a:t>
            </a:r>
          </a:p>
          <a:p>
            <a:pPr lvl="4"/>
            <a:r>
              <a:rPr lang="pl-PL" altLang="en-US"/>
              <a:t>Piąty poziom</a:t>
            </a:r>
            <a:endParaRPr lang="en-US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C5FA0D-3BEF-4D6B-B5F9-8ADE0D93E4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3925" y="7004050"/>
            <a:ext cx="3022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BC83E75-C064-4609-8FB5-E11856611300}" type="datetimeFigureOut">
              <a:rPr lang="en-US"/>
              <a:pPr>
                <a:defRPr/>
              </a:pPr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3CFB89-6CBB-41A8-869E-47D38F2AE6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49763" y="7004050"/>
            <a:ext cx="45339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192BA-FDA1-443E-8DCA-B10B3DEF28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86900" y="7004050"/>
            <a:ext cx="3022600" cy="401638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300">
                <a:solidFill>
                  <a:srgbClr val="898989"/>
                </a:solidFill>
              </a:defRPr>
            </a:lvl1pPr>
          </a:lstStyle>
          <a:p>
            <a:fld id="{F133E763-65B4-4E94-A8D5-9096C56981F7}" type="slidenum">
              <a:rPr lang="en-US" altLang="pl-PL"/>
              <a:pPr/>
              <a:t>‹#›</a:t>
            </a:fld>
            <a:endParaRPr lang="en-US" altLang="pl-P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2pPr>
      <a:lvl3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3pPr>
      <a:lvl4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4pPr>
      <a:lvl5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5pPr>
      <a:lvl6pPr marL="4572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6pPr>
      <a:lvl7pPr marL="9144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7pPr>
      <a:lvl8pPr marL="13716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8pPr>
      <a:lvl9pPr marL="18288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50825" indent="-250825" algn="l" defTabSz="1006475" rtl="0" eaLnBrk="0" fontAlgn="base" hangingPunct="0">
        <a:lnSpc>
          <a:spcPct val="90000"/>
        </a:lnSpc>
        <a:spcBef>
          <a:spcPts val="11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540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58888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2125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22653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770586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274329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778072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281815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1pPr>
      <a:lvl2pPr marL="503743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2pPr>
      <a:lvl3pPr marL="1007486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3pPr>
      <a:lvl4pPr marL="1511229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4pPr>
      <a:lvl5pPr marL="2014972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5pPr>
      <a:lvl6pPr marL="2518715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022458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526201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029944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xilinx.github.io/Vitis-AI/3.5/html/index.html" TargetMode="External"/><Relationship Id="rId2" Type="http://schemas.openxmlformats.org/officeDocument/2006/relationships/hyperlink" Target="https://my.avnet.com/silica/resources/article/fpga-vs-gpu-vs-cpu-hardware-options-for-ai-application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">
            <a:extLst>
              <a:ext uri="{FF2B5EF4-FFF2-40B4-BE49-F238E27FC236}">
                <a16:creationId xmlns:a16="http://schemas.microsoft.com/office/drawing/2014/main" id="{7F33A1C1-B92C-43EF-845F-9CD0A31E222D}"/>
              </a:ext>
            </a:extLst>
          </p:cNvPr>
          <p:cNvSpPr>
            <a:spLocks/>
          </p:cNvSpPr>
          <p:nvPr/>
        </p:nvSpPr>
        <p:spPr bwMode="auto">
          <a:xfrm>
            <a:off x="2395538" y="3625850"/>
            <a:ext cx="5026025" cy="19505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57503" rIns="57503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>
              <a:defRPr/>
            </a:pPr>
            <a:r>
              <a:rPr lang="en-US" altLang="pl-PL" sz="4025"/>
              <a:t>Klasyfikacja obrazów na FPGA z użyciem Vitis AI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44D97D20-E1B9-4AC3-A3D5-C3D389D168E8}"/>
              </a:ext>
            </a:extLst>
          </p:cNvPr>
          <p:cNvSpPr>
            <a:spLocks/>
          </p:cNvSpPr>
          <p:nvPr/>
        </p:nvSpPr>
        <p:spPr bwMode="auto">
          <a:xfrm>
            <a:off x="2395538" y="7172325"/>
            <a:ext cx="1395390" cy="40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57503" rIns="57503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>
              <a:defRPr/>
            </a:pPr>
            <a:r>
              <a:rPr lang="en-US" altLang="pl-PL" sz="2012">
                <a:solidFill>
                  <a:srgbClr val="808080"/>
                </a:solidFill>
              </a:rPr>
              <a:t>06.11.2025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2928F-A620-2074-9E56-A3CECD881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		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B7C23-3E7B-B2BB-3764-3CD74917A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8120" y="2011363"/>
            <a:ext cx="11121380" cy="4794250"/>
          </a:xfrm>
        </p:spPr>
        <p:txBody>
          <a:bodyPr/>
          <a:lstStyle/>
          <a:p>
            <a:r>
              <a:rPr lang="en-US" err="1"/>
              <a:t>Klasyfikacja</a:t>
            </a:r>
            <a:r>
              <a:rPr lang="en-US"/>
              <a:t> </a:t>
            </a:r>
            <a:r>
              <a:rPr lang="en-US" err="1"/>
              <a:t>obrazów</a:t>
            </a:r>
            <a:r>
              <a:rPr lang="en-US"/>
              <a:t> z </a:t>
            </a:r>
            <a:r>
              <a:rPr lang="en-US" err="1"/>
              <a:t>datasetu</a:t>
            </a:r>
            <a:r>
              <a:rPr lang="en-US"/>
              <a:t> CIFAR-10</a:t>
            </a:r>
          </a:p>
          <a:p>
            <a:pPr marL="753745" lvl="1"/>
            <a:r>
              <a:rPr lang="en-US"/>
              <a:t>60000 </a:t>
            </a:r>
            <a:r>
              <a:rPr lang="en-US" err="1"/>
              <a:t>obrazków</a:t>
            </a:r>
            <a:r>
              <a:rPr lang="en-US"/>
              <a:t> 32x32 </a:t>
            </a:r>
            <a:r>
              <a:rPr lang="en-US" err="1"/>
              <a:t>piksele</a:t>
            </a:r>
            <a:endParaRPr lang="en-US" err="1">
              <a:ea typeface="Calibri"/>
              <a:cs typeface="Calibri"/>
            </a:endParaRPr>
          </a:p>
          <a:p>
            <a:pPr marL="753745" lvl="1"/>
            <a:r>
              <a:rPr lang="en-US"/>
              <a:t>10 </a:t>
            </a:r>
            <a:r>
              <a:rPr lang="en-US" err="1"/>
              <a:t>klas</a:t>
            </a:r>
            <a:r>
              <a:rPr lang="en-US"/>
              <a:t> – </a:t>
            </a:r>
            <a:r>
              <a:rPr lang="en-US" err="1"/>
              <a:t>Samochody</a:t>
            </a:r>
            <a:r>
              <a:rPr lang="en-US"/>
              <a:t>, </a:t>
            </a:r>
            <a:r>
              <a:rPr lang="en-US" err="1"/>
              <a:t>samoloty</a:t>
            </a:r>
            <a:r>
              <a:rPr lang="en-US"/>
              <a:t> </a:t>
            </a:r>
            <a:r>
              <a:rPr lang="en-US" err="1"/>
              <a:t>itd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pPr marL="250507"/>
            <a:r>
              <a:rPr lang="en-US">
                <a:ea typeface="Calibri"/>
                <a:cs typeface="Calibri"/>
              </a:rPr>
              <a:t>Celem jest sprawdzenie jak kwantyzacja i implementacja na FPGA wpływa na czas inferencji I dokładność modelu.</a:t>
            </a:r>
            <a:endParaRPr lang="en-US"/>
          </a:p>
          <a:p>
            <a:pPr marL="960120" lvl="1" indent="-457200"/>
            <a:endParaRPr lang="en-US"/>
          </a:p>
        </p:txBody>
      </p:sp>
      <p:pic>
        <p:nvPicPr>
          <p:cNvPr id="4" name="Obraz 3" descr="Load and Explore Cifar10 Dataset | coding">
            <a:extLst>
              <a:ext uri="{FF2B5EF4-FFF2-40B4-BE49-F238E27FC236}">
                <a16:creationId xmlns:a16="http://schemas.microsoft.com/office/drawing/2014/main" id="{C6E11E01-5915-BEA3-F353-C2A8406E2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152" y="4504738"/>
            <a:ext cx="6188206" cy="2655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5410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2B8EE-E72A-2DF0-A1BB-EF3EE193C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		Zalety Machine Learningu na FPGA</a:t>
            </a:r>
            <a:br>
              <a:rPr lang="en-US"/>
            </a:b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B6C-2D9D-7D1A-9347-A36669CAD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4104" y="2011363"/>
            <a:ext cx="11265396" cy="4794250"/>
          </a:xfrm>
        </p:spPr>
        <p:txBody>
          <a:bodyPr/>
          <a:lstStyle/>
          <a:p>
            <a:r>
              <a:rPr lang="en-US"/>
              <a:t>Niskie opóźnienia</a:t>
            </a:r>
          </a:p>
          <a:p>
            <a:r>
              <a:rPr lang="en-US"/>
              <a:t>Bardzo dobra wydajność</a:t>
            </a:r>
          </a:p>
          <a:p>
            <a:r>
              <a:rPr lang="en-US"/>
              <a:t>Dobry stosunek cena/jakość</a:t>
            </a:r>
          </a:p>
          <a:p>
            <a:r>
              <a:rPr lang="en-US"/>
              <a:t>Niskie zużycie energii</a:t>
            </a:r>
          </a:p>
        </p:txBody>
      </p:sp>
      <p:pic>
        <p:nvPicPr>
          <p:cNvPr id="5" name="Picture 4" descr="A diagram of different types of computer components&#10;&#10;AI-generated content may be incorrect.">
            <a:extLst>
              <a:ext uri="{FF2B5EF4-FFF2-40B4-BE49-F238E27FC236}">
                <a16:creationId xmlns:a16="http://schemas.microsoft.com/office/drawing/2014/main" id="{339C7AE1-DFF4-B8BF-E19C-993AA69087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497" y="2085741"/>
            <a:ext cx="5014354" cy="4645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162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C7A46-8222-54E8-CB67-2DD13C429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		Kwantyzacja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F3F24-37AD-A060-4CFD-26D0B60DB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6112" y="2011363"/>
            <a:ext cx="11193388" cy="4794250"/>
          </a:xfrm>
        </p:spPr>
        <p:txBody>
          <a:bodyPr/>
          <a:lstStyle/>
          <a:p>
            <a:r>
              <a:rPr lang="en-US"/>
              <a:t>Kwantyzacja pozwala na znaczne zmniejszenie modelu  i jego przyśpieszenie kosztem minimalnego spadku na dokładności.</a:t>
            </a:r>
          </a:p>
        </p:txBody>
      </p:sp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C0A4F937-4E17-62B4-FE5D-C4283405A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176" y="3123073"/>
            <a:ext cx="6552381" cy="36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496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19941-AE2A-3514-0A8C-FE007F81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54E9F-758E-492F-6DC3-9E53CF913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1452" y="401638"/>
            <a:ext cx="9721318" cy="1487415"/>
          </a:xfr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US"/>
              <a:t> Vitis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C0B53-5979-B7D2-CBAE-7F7042678C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6112" y="2011363"/>
            <a:ext cx="11193388" cy="4794250"/>
          </a:xfrm>
        </p:spPr>
        <p:txBody>
          <a:bodyPr/>
          <a:lstStyle/>
          <a:p>
            <a:r>
              <a:rPr lang="en-US" err="1">
                <a:ea typeface="Calibri"/>
                <a:cs typeface="Calibri"/>
              </a:rPr>
              <a:t>Zintegrowane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środowisko</a:t>
            </a:r>
            <a:r>
              <a:rPr lang="en-US">
                <a:ea typeface="Calibri"/>
                <a:cs typeface="Calibri"/>
              </a:rPr>
              <a:t> do </a:t>
            </a:r>
            <a:r>
              <a:rPr lang="en-US" err="1">
                <a:ea typeface="Calibri"/>
                <a:cs typeface="Calibri"/>
              </a:rPr>
              <a:t>rozwoju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aplikacji</a:t>
            </a:r>
            <a:r>
              <a:rPr lang="en-US">
                <a:ea typeface="Calibri"/>
                <a:cs typeface="Calibri"/>
              </a:rPr>
              <a:t> AI </a:t>
            </a:r>
            <a:r>
              <a:rPr lang="en-US" err="1">
                <a:ea typeface="Calibri"/>
                <a:cs typeface="Calibri"/>
              </a:rPr>
              <a:t>na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platformach</a:t>
            </a:r>
            <a:r>
              <a:rPr lang="en-US">
                <a:ea typeface="Calibri"/>
                <a:cs typeface="Calibri"/>
              </a:rPr>
              <a:t> AMD</a:t>
            </a:r>
          </a:p>
          <a:p>
            <a:r>
              <a:rPr lang="en-US" err="1">
                <a:ea typeface="Calibri"/>
                <a:cs typeface="Calibri"/>
              </a:rPr>
              <a:t>Zawiera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narzędzia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biblioteki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oraz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gotowe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modele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</a:t>
            </a:r>
            <a:r>
              <a:rPr lang="en-US">
                <a:ea typeface="Calibri"/>
                <a:cs typeface="Calibri"/>
              </a:rPr>
              <a:t> </a:t>
            </a:r>
            <a:r>
              <a:rPr lang="en-US" err="1">
                <a:ea typeface="Calibri"/>
                <a:cs typeface="Calibri"/>
              </a:rPr>
              <a:t>przykłady</a:t>
            </a:r>
          </a:p>
          <a:p>
            <a:endParaRPr lang="en-US">
              <a:ea typeface="Calibri"/>
              <a:cs typeface="Calibri"/>
            </a:endParaRPr>
          </a:p>
        </p:txBody>
      </p:sp>
      <p:pic>
        <p:nvPicPr>
          <p:cNvPr id="4" name="Picture 3" descr="https://xilinx.github.io/Vitis-AI/3.5/html/_images/VAI_IDE.png">
            <a:extLst>
              <a:ext uri="{FF2B5EF4-FFF2-40B4-BE49-F238E27FC236}">
                <a16:creationId xmlns:a16="http://schemas.microsoft.com/office/drawing/2014/main" id="{0BA18EC9-E9FF-25EF-B7BC-802C1BBBC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432" y="3606109"/>
            <a:ext cx="7104185" cy="350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976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9129-A3FA-F53A-BFAD-88A33AE4F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		</a:t>
            </a:r>
            <a:r>
              <a:rPr lang="en-US" dirty="0" err="1"/>
              <a:t>Etapy</a:t>
            </a:r>
            <a:r>
              <a:rPr lang="en-US" dirty="0"/>
              <a:t> </a:t>
            </a:r>
            <a:r>
              <a:rPr lang="en-US" dirty="0" err="1"/>
              <a:t>pracy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94908-27A9-9D21-EA72-25C0A2982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6112" y="2011362"/>
            <a:ext cx="11193388" cy="5223271"/>
          </a:xfrm>
        </p:spPr>
        <p:txBody>
          <a:bodyPr/>
          <a:lstStyle/>
          <a:p>
            <a:r>
              <a:rPr lang="en-US" dirty="0" err="1"/>
              <a:t>Trenowanie</a:t>
            </a:r>
            <a:r>
              <a:rPr lang="en-US" dirty="0"/>
              <a:t> </a:t>
            </a:r>
            <a:r>
              <a:rPr lang="en-US" dirty="0" err="1"/>
              <a:t>modelu</a:t>
            </a:r>
            <a:r>
              <a:rPr lang="en-US" dirty="0"/>
              <a:t> w </a:t>
            </a:r>
            <a:r>
              <a:rPr lang="en-US" dirty="0" err="1"/>
              <a:t>PyTorch</a:t>
            </a:r>
            <a:r>
              <a:rPr lang="en-US" dirty="0"/>
              <a:t> </a:t>
            </a:r>
          </a:p>
          <a:p>
            <a:pPr lvl="1"/>
            <a:r>
              <a:rPr lang="pl-PL" dirty="0"/>
              <a:t>MobileNetV2 na zbiorze CIFAR-10</a:t>
            </a:r>
            <a:endParaRPr lang="en-US" dirty="0"/>
          </a:p>
          <a:p>
            <a:r>
              <a:rPr lang="en-US" dirty="0" err="1"/>
              <a:t>Eksport</a:t>
            </a:r>
            <a:r>
              <a:rPr lang="en-US" dirty="0"/>
              <a:t> do ONNX</a:t>
            </a:r>
          </a:p>
          <a:p>
            <a:pPr lvl="1"/>
            <a:r>
              <a:rPr lang="en-US" dirty="0" err="1"/>
              <a:t>torch.onnx.export</a:t>
            </a:r>
            <a:r>
              <a:rPr lang="en-US" dirty="0"/>
              <a:t>(model, input, "</a:t>
            </a:r>
            <a:r>
              <a:rPr lang="en-US" dirty="0" err="1"/>
              <a:t>model.onnx</a:t>
            </a:r>
            <a:r>
              <a:rPr lang="en-US" dirty="0"/>
              <a:t>")</a:t>
            </a:r>
          </a:p>
          <a:p>
            <a:r>
              <a:rPr lang="en-US" dirty="0" err="1"/>
              <a:t>Kwantyzacja</a:t>
            </a:r>
          </a:p>
          <a:p>
            <a:pPr lvl="1"/>
            <a:r>
              <a:rPr lang="en-US" dirty="0" err="1"/>
              <a:t>Użycie</a:t>
            </a:r>
            <a:r>
              <a:rPr lang="en-US" dirty="0"/>
              <a:t> Vitis AI Quantizer (</a:t>
            </a:r>
            <a:r>
              <a:rPr lang="en-US" dirty="0" err="1"/>
              <a:t>vai_q_pytorch</a:t>
            </a:r>
            <a:r>
              <a:rPr lang="en-US" dirty="0"/>
              <a:t>) do </a:t>
            </a:r>
            <a:r>
              <a:rPr lang="en-US" dirty="0" err="1"/>
              <a:t>konwersji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INT8</a:t>
            </a:r>
          </a:p>
          <a:p>
            <a:r>
              <a:rPr lang="en-US" dirty="0" err="1"/>
              <a:t>Kompilacja</a:t>
            </a:r>
          </a:p>
          <a:p>
            <a:pPr lvl="1"/>
            <a:r>
              <a:rPr lang="en-US" dirty="0" err="1"/>
              <a:t>Kompilacja</a:t>
            </a:r>
            <a:r>
              <a:rPr lang="en-US" dirty="0"/>
              <a:t> </a:t>
            </a:r>
            <a:r>
              <a:rPr lang="en-US" dirty="0" err="1"/>
              <a:t>modelem</a:t>
            </a:r>
            <a:r>
              <a:rPr lang="en-US" dirty="0"/>
              <a:t> w Vitis AI Compiler pod </a:t>
            </a:r>
            <a:r>
              <a:rPr lang="en-US" dirty="0" err="1"/>
              <a:t>konkretną</a:t>
            </a:r>
            <a:r>
              <a:rPr lang="en-US" dirty="0"/>
              <a:t> </a:t>
            </a:r>
            <a:r>
              <a:rPr lang="en-US" dirty="0" err="1"/>
              <a:t>platformę</a:t>
            </a:r>
            <a:r>
              <a:rPr lang="en-US" dirty="0"/>
              <a:t> FPGA</a:t>
            </a:r>
          </a:p>
          <a:p>
            <a:r>
              <a:rPr lang="en-US" dirty="0" err="1"/>
              <a:t>Uruchomienie</a:t>
            </a:r>
            <a:r>
              <a:rPr lang="en-US" dirty="0"/>
              <a:t> </a:t>
            </a:r>
            <a:r>
              <a:rPr lang="en-US" dirty="0" err="1"/>
              <a:t>inferencji</a:t>
            </a:r>
          </a:p>
          <a:p>
            <a:pPr lvl="1"/>
            <a:r>
              <a:rPr lang="pl-PL" dirty="0"/>
              <a:t>Wykorzystanie </a:t>
            </a:r>
            <a:r>
              <a:rPr lang="pl-PL" dirty="0" err="1"/>
              <a:t>Vitis</a:t>
            </a:r>
            <a:r>
              <a:rPr lang="pl-PL" dirty="0"/>
              <a:t> AI Runtime (VART) do wykonania na FPGA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7521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64514-1AD8-F027-91D7-90EFEB842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3B5D5-7D49-830D-EB43-02D4CE3F1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7746" y="401638"/>
            <a:ext cx="9701754" cy="1460500"/>
          </a:xfrm>
        </p:spPr>
        <p:txBody>
          <a:bodyPr/>
          <a:lstStyle/>
          <a:p>
            <a:r>
              <a:rPr lang="pl-PL" dirty="0"/>
              <a:t>Wyniki	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08256-A553-65D3-B60B-455F2A228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6112" y="2011362"/>
            <a:ext cx="11193388" cy="1194417"/>
          </a:xfrm>
        </p:spPr>
        <p:txBody>
          <a:bodyPr/>
          <a:lstStyle/>
          <a:p>
            <a:r>
              <a:rPr lang="en-US" dirty="0" err="1"/>
              <a:t>Trenowanie</a:t>
            </a:r>
            <a:r>
              <a:rPr lang="en-US" dirty="0"/>
              <a:t> </a:t>
            </a:r>
            <a:r>
              <a:rPr lang="en-US" dirty="0" err="1"/>
              <a:t>modelu</a:t>
            </a:r>
            <a:r>
              <a:rPr lang="en-US" dirty="0"/>
              <a:t> w </a:t>
            </a:r>
            <a:r>
              <a:rPr lang="en-US" dirty="0" err="1"/>
              <a:t>PyTorch</a:t>
            </a:r>
            <a:r>
              <a:rPr lang="en-US" dirty="0"/>
              <a:t> </a:t>
            </a:r>
          </a:p>
          <a:p>
            <a:pPr lvl="1"/>
            <a:r>
              <a:rPr lang="pl-PL" dirty="0"/>
              <a:t>MobileNetV2 na zbiorze CIFAR-10</a:t>
            </a:r>
          </a:p>
          <a:p>
            <a:pPr marL="503238" lvl="1" indent="0">
              <a:buNone/>
            </a:pPr>
            <a:endParaRPr lang="pl-PL" dirty="0"/>
          </a:p>
        </p:txBody>
      </p:sp>
      <p:pic>
        <p:nvPicPr>
          <p:cNvPr id="5" name="Obraz 4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793D925C-E9B7-CCD0-A6CA-370CF3FBF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112" y="3205778"/>
            <a:ext cx="5041657" cy="3945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718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5A61B-CD18-2196-EFD8-7096AE416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08165-9450-3381-093B-B67BB5B5D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7746" y="401638"/>
            <a:ext cx="9701754" cy="1460500"/>
          </a:xfrm>
        </p:spPr>
        <p:txBody>
          <a:bodyPr/>
          <a:lstStyle/>
          <a:p>
            <a:r>
              <a:rPr lang="pl-PL" dirty="0"/>
              <a:t>Wyniki	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4F773-2C7B-E41E-8290-42B00D486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6112" y="2011362"/>
            <a:ext cx="11193388" cy="2571396"/>
          </a:xfrm>
        </p:spPr>
        <p:txBody>
          <a:bodyPr/>
          <a:lstStyle/>
          <a:p>
            <a:r>
              <a:rPr lang="en-US" strike="sngStrike" dirty="0" err="1"/>
              <a:t>Eksport</a:t>
            </a:r>
            <a:r>
              <a:rPr lang="en-US" strike="sngStrike" dirty="0"/>
              <a:t> do ONNX</a:t>
            </a:r>
          </a:p>
          <a:p>
            <a:pPr lvl="1"/>
            <a:r>
              <a:rPr lang="en-US" strike="sngStrike" dirty="0" err="1"/>
              <a:t>torch.onnx.export</a:t>
            </a:r>
            <a:r>
              <a:rPr lang="en-US" strike="sngStrike" dirty="0"/>
              <a:t>(model, input, "</a:t>
            </a:r>
            <a:r>
              <a:rPr lang="en-US" strike="sngStrike" dirty="0" err="1"/>
              <a:t>model.onnx</a:t>
            </a:r>
            <a:r>
              <a:rPr lang="en-US" strike="sngStrike" dirty="0"/>
              <a:t>")</a:t>
            </a:r>
            <a:endParaRPr lang="pl-PL" strike="sngStrike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r>
              <a:rPr lang="en-US" dirty="0" err="1"/>
              <a:t>Eksport</a:t>
            </a:r>
            <a:r>
              <a:rPr lang="en-US" dirty="0"/>
              <a:t> </a:t>
            </a:r>
            <a:r>
              <a:rPr lang="pl-PL" dirty="0" err="1"/>
              <a:t>pyTorch</a:t>
            </a:r>
            <a:r>
              <a:rPr lang="pl-PL" dirty="0"/>
              <a:t> (plik *.</a:t>
            </a:r>
            <a:r>
              <a:rPr lang="pl-PL" dirty="0" err="1"/>
              <a:t>pt</a:t>
            </a:r>
            <a:r>
              <a:rPr lang="pl-PL" dirty="0"/>
              <a:t>)</a:t>
            </a:r>
          </a:p>
          <a:p>
            <a:endParaRPr lang="en-US" dirty="0"/>
          </a:p>
        </p:txBody>
      </p:sp>
      <p:pic>
        <p:nvPicPr>
          <p:cNvPr id="7" name="Obraz 6" descr="Obraz zawierający tekst, Czcionka, zrzut ekranu&#10;&#10;Zawartość wygenerowana przez AI może być niepoprawna.">
            <a:extLst>
              <a:ext uri="{FF2B5EF4-FFF2-40B4-BE49-F238E27FC236}">
                <a16:creationId xmlns:a16="http://schemas.microsoft.com/office/drawing/2014/main" id="{EF711FFF-DE29-9797-4BE2-E41BEC2B47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410" y="2892301"/>
            <a:ext cx="10069330" cy="1771897"/>
          </a:xfrm>
          <a:prstGeom prst="rect">
            <a:avLst/>
          </a:prstGeom>
        </p:spPr>
      </p:pic>
      <p:pic>
        <p:nvPicPr>
          <p:cNvPr id="11" name="Obraz 10" descr="Obraz zawierający tekst, zrzut ekranu, Czcionka, linia&#10;&#10;Zawartość wygenerowana przez AI może być niepoprawna.">
            <a:extLst>
              <a:ext uri="{FF2B5EF4-FFF2-40B4-BE49-F238E27FC236}">
                <a16:creationId xmlns:a16="http://schemas.microsoft.com/office/drawing/2014/main" id="{84E2EDE6-7330-E634-385B-11520325C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0430" y="5077269"/>
            <a:ext cx="5382376" cy="11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411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6ED25-9B93-6694-5112-22E403285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686B2-EF15-816E-CD44-2CABE96E6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7746" y="401638"/>
            <a:ext cx="9701754" cy="1460500"/>
          </a:xfrm>
        </p:spPr>
        <p:txBody>
          <a:bodyPr/>
          <a:lstStyle/>
          <a:p>
            <a:r>
              <a:rPr lang="pl-PL" dirty="0"/>
              <a:t>Wyniki	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F764A-DDD8-C75E-AE3F-47BEAC00A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6112" y="2011362"/>
            <a:ext cx="11193388" cy="2571396"/>
          </a:xfrm>
        </p:spPr>
        <p:txBody>
          <a:bodyPr/>
          <a:lstStyle/>
          <a:p>
            <a:r>
              <a:rPr lang="pl-PL" dirty="0" err="1"/>
              <a:t>Vitis</a:t>
            </a:r>
            <a:r>
              <a:rPr lang="pl-PL" dirty="0"/>
              <a:t> AI </a:t>
            </a:r>
            <a:r>
              <a:rPr lang="pl-PL" dirty="0">
                <a:sym typeface="Wingdings" panose="05000000000000000000" pitchFamily="2" charset="2"/>
              </a:rPr>
              <a:t>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0233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D0E82-DC90-CEAA-44C0-F7BC3739B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		Źródła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E4809B-387B-3056-1A66-26376024B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4104" y="2011363"/>
            <a:ext cx="11265396" cy="4794250"/>
          </a:xfrm>
        </p:spPr>
        <p:txBody>
          <a:bodyPr/>
          <a:lstStyle/>
          <a:p>
            <a:r>
              <a:rPr lang="en-US">
                <a:hlinkClick r:id="rId2"/>
              </a:rPr>
              <a:t>https://my.avnet.com/silica/resources/article/fpga-vs-gpu-vs-cpu-hardware-options-for-ai-applications/</a:t>
            </a:r>
            <a:endParaRPr lang="en-US"/>
          </a:p>
          <a:p>
            <a:r>
              <a:rPr lang="en-US">
                <a:ea typeface="+mn-lt"/>
                <a:cs typeface="+mn-lt"/>
                <a:hlinkClick r:id="rId3"/>
              </a:rPr>
              <a:t>https://xilinx.github.io/Vitis-AI/3.5/html/index.html</a:t>
            </a:r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74600211"/>
      </p:ext>
    </p:extLst>
  </p:cSld>
  <p:clrMapOvr>
    <a:masterClrMapping/>
  </p:clrMapOvr>
</p:sld>
</file>

<file path=ppt/theme/theme1.xml><?xml version="1.0" encoding="utf-8"?>
<a:theme xmlns:a="http://schemas.openxmlformats.org/drawingml/2006/main" name="Blank Presentation - Default">
  <a:themeElements>
    <a:clrScheme name="Motyw pakietu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otyw pakietu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otyw pakietu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Pakiet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0324670-5a30-4a82-9f4a-3ec047b6efa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D3E0C5E92C274499576E1B13C8ED110" ma:contentTypeVersion="8" ma:contentTypeDescription="Utwórz nowy dokument." ma:contentTypeScope="" ma:versionID="12d49766b0c4bf4d7d0a825197d2def8">
  <xsd:schema xmlns:xsd="http://www.w3.org/2001/XMLSchema" xmlns:xs="http://www.w3.org/2001/XMLSchema" xmlns:p="http://schemas.microsoft.com/office/2006/metadata/properties" xmlns:ns3="cb2fda98-091b-466d-92a5-bc28a7b73a74" xmlns:ns4="e0324670-5a30-4a82-9f4a-3ec047b6efa7" targetNamespace="http://schemas.microsoft.com/office/2006/metadata/properties" ma:root="true" ma:fieldsID="c28b5b92f723b40e2054a68bc6e67761" ns3:_="" ns4:_="">
    <xsd:import namespace="cb2fda98-091b-466d-92a5-bc28a7b73a74"/>
    <xsd:import namespace="e0324670-5a30-4a82-9f4a-3ec047b6efa7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ObjectDetectorVersions" minOccurs="0"/>
                <xsd:element ref="ns4:_activity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b2fda98-091b-466d-92a5-bc28a7b73a74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Udostępniani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Udostępnione dla — szczegóły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krót wskazówki dotyczącej udostępniania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324670-5a30-4a82-9f4a-3ec047b6efa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zawartości"/>
        <xsd:element ref="dc:title" minOccurs="0" maxOccurs="1" ma:index="4" ma:displayName="Tytuł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DA7721-D9A8-47A8-81E1-BD2BE85510D0}">
  <ds:schemaRefs>
    <ds:schemaRef ds:uri="http://schemas.microsoft.com/office/2006/documentManagement/types"/>
    <ds:schemaRef ds:uri="cb2fda98-091b-466d-92a5-bc28a7b73a74"/>
    <ds:schemaRef ds:uri="e0324670-5a30-4a82-9f4a-3ec047b6efa7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dcmitype/"/>
    <ds:schemaRef ds:uri="http://schemas.microsoft.com/office/2006/metadata/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3F2C7985-AF9E-4EF4-85C0-E0E82FB6DC0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994617B-498C-4971-AA14-80AA91235E8A}">
  <ds:schemaRefs>
    <ds:schemaRef ds:uri="cb2fda98-091b-466d-92a5-bc28a7b73a74"/>
    <ds:schemaRef ds:uri="e0324670-5a30-4a82-9f4a-3ec047b6efa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254</Words>
  <Application>Microsoft Office PowerPoint</Application>
  <PresentationFormat>Niestandardowy</PresentationFormat>
  <Paragraphs>43</Paragraphs>
  <Slides>10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Helvetica Neue</vt:lpstr>
      <vt:lpstr>Wingdings</vt:lpstr>
      <vt:lpstr>Blank Presentation - Default</vt:lpstr>
      <vt:lpstr>Prezentacja programu PowerPoint</vt:lpstr>
      <vt:lpstr>  Problem</vt:lpstr>
      <vt:lpstr>  Zalety Machine Learningu na FPGA </vt:lpstr>
      <vt:lpstr>  Kwantyzacja</vt:lpstr>
      <vt:lpstr> Vitis AI</vt:lpstr>
      <vt:lpstr>  Etapy pracy</vt:lpstr>
      <vt:lpstr>Wyniki </vt:lpstr>
      <vt:lpstr>Wyniki </vt:lpstr>
      <vt:lpstr>Wyniki </vt:lpstr>
      <vt:lpstr>  Źródła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Maciek</dc:creator>
  <cp:lastModifiedBy>Stanisław Kusiak</cp:lastModifiedBy>
  <cp:revision>5</cp:revision>
  <dcterms:modified xsi:type="dcterms:W3CDTF">2025-12-17T20:01:39Z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0x0101000D3E0C5E92C274499576E1B13C8ED110</vt:lpwstr>
  </property>
</Properties>
</file>